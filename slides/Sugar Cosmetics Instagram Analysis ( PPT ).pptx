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391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31520" y="2011680"/>
            <a:ext cx="109728" cy="2011680"/>
          </a:xfrm>
          <a:prstGeom prst="rect">
            <a:avLst/>
          </a:prstGeom>
          <a:solidFill>
            <a:srgbClr val="ED93B1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4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Performance Analysis For</a:t>
            </a:r>
            <a:br>
              <a:rPr lang="en-US" sz="44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44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</a:t>
            </a:r>
            <a:endParaRPr lang="en-US" sz="4400" dirty="0"/>
          </a:p>
          <a:p>
            <a:pPr marL="0" indent="0">
              <a:buNone/>
            </a:pP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posts  |  Apr 2024 to Apr 2025  |  Power BI dashboard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 Saish Bhalchandra Bore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and Business Intelligence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PAGE 1  |  KPI OVERVIEW  |  TASKS 1 AND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posting: about 4,000 posts a month at 18.55% engagement</a:t>
            </a:r>
            <a:endParaRPr lang="en-US" sz="2600" dirty="0"/>
          </a:p>
        </p:txBody>
      </p:sp>
      <p:pic>
        <p:nvPicPr>
          <p:cNvPr id="4" name="Image 0" descr="KPI cards and monthly posting tr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40880" cy="4000500"/>
          </a:xfrm>
          <a:prstGeom prst="rect">
            <a:avLst/>
          </a:prstGeom>
        </p:spPr>
      </p:pic>
      <p:sp>
        <p:nvSpPr>
          <p:cNvPr id="5" name="Insight panel"/>
          <p:cNvSpPr/>
          <p:nvPr/>
        </p:nvSpPr>
        <p:spPr>
          <a:xfrm>
            <a:off x="7863840" y="1371600"/>
            <a:ext cx="3794760" cy="4000500"/>
          </a:xfrm>
          <a:prstGeom prst="roundRect">
            <a:avLst>
              <a:gd name="adj" fmla="val 1928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9202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posts, 987M reach, 147.7M likes and 8.87M follows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is 18.55%: (likes + comments + shares + saves) / reach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2024 and Apr 2025 are partial months, so their dips are not real declines</a:t>
            </a:r>
            <a:endParaRPr lang="en-US" sz="1400" dirty="0"/>
          </a:p>
        </p:txBody>
      </p:sp>
      <p:sp>
        <p:nvSpPr>
          <p:cNvPr id="8" name="Implication strip"/>
          <p:cNvSpPr/>
          <p:nvPr/>
        </p:nvSpPr>
        <p:spPr>
          <a:xfrm>
            <a:off x="548640" y="55778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</a:t>
            </a:r>
            <a:r>
              <a:rPr lang="en-US" sz="15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volume is already consistent, so growth must come from content quality and conversion, not from posting more.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PAGE 2  |  TOP POSTS  |  TASKS 3 AND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liked posts are not the highest engagement posts</a:t>
            </a:r>
            <a:endParaRPr lang="en-US" sz="2600" dirty="0"/>
          </a:p>
        </p:txBody>
      </p:sp>
      <p:pic>
        <p:nvPicPr>
          <p:cNvPr id="4" name="Image 0" descr="Top 10 posts by likes and by engagement r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40880" cy="4000500"/>
          </a:xfrm>
          <a:prstGeom prst="rect">
            <a:avLst/>
          </a:prstGeom>
        </p:spPr>
      </p:pic>
      <p:sp>
        <p:nvSpPr>
          <p:cNvPr id="5" name="Insight panel"/>
          <p:cNvSpPr/>
          <p:nvPr/>
        </p:nvSpPr>
        <p:spPr>
          <a:xfrm>
            <a:off x="7863840" y="1371600"/>
            <a:ext cx="3794760" cy="4000500"/>
          </a:xfrm>
          <a:prstGeom prst="roundRect">
            <a:avLst>
              <a:gd name="adj" fmla="val 1928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9202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by likes: 11,043 to 11,392 likes, all on posts with 44K+ reach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by engagement rate: 33.8% to 34.1%, with likes from only 1,791 to 10,844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Collab and Giveaway appear 3 times each in the likes list; Giveaway leads the engagement list with 3 of 10</a:t>
            </a:r>
            <a:endParaRPr lang="en-US" sz="1400" dirty="0"/>
          </a:p>
        </p:txBody>
      </p:sp>
      <p:sp>
        <p:nvSpPr>
          <p:cNvPr id="8" name="Implication strip"/>
          <p:cNvSpPr/>
          <p:nvPr/>
        </p:nvSpPr>
        <p:spPr>
          <a:xfrm>
            <a:off x="548640" y="55778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</a:t>
            </a:r>
            <a:r>
              <a:rPr lang="en-US" sz="15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content by engagement rate as well as likes. High-engagement, lower-reach posts are hidden gems worth repeating or boosting with paid reach.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PAGE 3  |  POST TYPE ANALYSIS  |  TASK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post types perform within about 1% of each other</a:t>
            </a:r>
            <a:endParaRPr lang="en-US" sz="2600" dirty="0"/>
          </a:p>
        </p:txBody>
      </p:sp>
      <p:pic>
        <p:nvPicPr>
          <p:cNvPr id="4" name="Image 0" descr="Post type comparis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40880" cy="4000500"/>
          </a:xfrm>
          <a:prstGeom prst="rect">
            <a:avLst/>
          </a:prstGeom>
        </p:spPr>
      </p:pic>
      <p:sp>
        <p:nvSpPr>
          <p:cNvPr id="5" name="Insight panel"/>
          <p:cNvSpPr/>
          <p:nvPr/>
        </p:nvSpPr>
        <p:spPr>
          <a:xfrm>
            <a:off x="7863840" y="1371600"/>
            <a:ext cx="3794760" cy="4000500"/>
          </a:xfrm>
          <a:prstGeom prst="roundRect">
            <a:avLst>
              <a:gd name="adj" fmla="val 1928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9202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rate: Story 18.63%, Reel 18.60%, Video 18.56%, Image 18.42%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likes range only from 2,941 to 2,964 per post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has the highest average reach (19,864) but the lowest engagement rate</a:t>
            </a:r>
            <a:endParaRPr lang="en-US" sz="1400" dirty="0"/>
          </a:p>
        </p:txBody>
      </p:sp>
      <p:sp>
        <p:nvSpPr>
          <p:cNvPr id="8" name="Implication strip"/>
          <p:cNvSpPr/>
          <p:nvPr/>
        </p:nvSpPr>
        <p:spPr>
          <a:xfrm>
            <a:off x="548640" y="55778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</a:t>
            </a:r>
            <a:r>
              <a:rPr lang="en-US" sz="15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is not the main lever. Choose formats for creative fit, not for expected engagement.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PAGE 4  |  DAY OF WEEK ANALYSIS  |  TASK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barely matters: Friday leads by only 0.14 points</a:t>
            </a:r>
            <a:endParaRPr lang="en-US" sz="2600" dirty="0"/>
          </a:p>
        </p:txBody>
      </p:sp>
      <p:pic>
        <p:nvPicPr>
          <p:cNvPr id="4" name="Image 0" descr="Weekday engagement analy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40880" cy="4000500"/>
          </a:xfrm>
          <a:prstGeom prst="rect">
            <a:avLst/>
          </a:prstGeom>
        </p:spPr>
      </p:pic>
      <p:sp>
        <p:nvSpPr>
          <p:cNvPr id="5" name="Insight panel"/>
          <p:cNvSpPr/>
          <p:nvPr/>
        </p:nvSpPr>
        <p:spPr>
          <a:xfrm>
            <a:off x="7863840" y="1371600"/>
            <a:ext cx="3794760" cy="4000500"/>
          </a:xfrm>
          <a:prstGeom prst="roundRect">
            <a:avLst>
              <a:gd name="adj" fmla="val 1928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9202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highest (18.61%), Saturday 18.59%, Sunday lowest (18.47%)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has the highest average likes (2,974); Saturday the lowest (2,926)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is balanced: 7,028 to 7,355 posts on every weekday</a:t>
            </a:r>
            <a:endParaRPr lang="en-US" sz="1400" dirty="0"/>
          </a:p>
        </p:txBody>
      </p:sp>
      <p:sp>
        <p:nvSpPr>
          <p:cNvPr id="8" name="Implication strip"/>
          <p:cNvSpPr/>
          <p:nvPr/>
        </p:nvSpPr>
        <p:spPr>
          <a:xfrm>
            <a:off x="548640" y="55778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</a:t>
            </a:r>
            <a:r>
              <a:rPr lang="en-US" sz="15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Friday and Saturday for key launches, but there is no need to avoid other days.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PAGE 5  |  ENGAGEMENT FUNNEL  |  TASK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leaks after reach: only 15% of those reached like a post</a:t>
            </a:r>
            <a:endParaRPr lang="en-US" sz="2600" dirty="0"/>
          </a:p>
        </p:txBody>
      </p:sp>
      <p:pic>
        <p:nvPicPr>
          <p:cNvPr id="4" name="Image 0" descr="Engagement funn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40880" cy="4000500"/>
          </a:xfrm>
          <a:prstGeom prst="rect">
            <a:avLst/>
          </a:prstGeom>
        </p:spPr>
      </p:pic>
      <p:sp>
        <p:nvSpPr>
          <p:cNvPr id="5" name="Insight panel"/>
          <p:cNvSpPr/>
          <p:nvPr/>
        </p:nvSpPr>
        <p:spPr>
          <a:xfrm>
            <a:off x="7863840" y="1371600"/>
            <a:ext cx="3794760" cy="4000500"/>
          </a:xfrm>
          <a:prstGeom prst="roundRect">
            <a:avLst>
              <a:gd name="adj" fmla="val 1928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9202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impressions become unique reach (987M of 1,276M)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are 11.6% of impressions; comments only 1.45%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(0.64%) and saves (0.69%) are the weakest stages</a:t>
            </a:r>
            <a:endParaRPr lang="en-US" sz="1400" dirty="0"/>
          </a:p>
        </p:txBody>
      </p:sp>
      <p:sp>
        <p:nvSpPr>
          <p:cNvPr id="8" name="Implication strip"/>
          <p:cNvSpPr/>
          <p:nvPr/>
        </p:nvSpPr>
        <p:spPr>
          <a:xfrm>
            <a:off x="548640" y="55778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</a:t>
            </a:r>
            <a:r>
              <a:rPr lang="en-US" sz="15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opportunity is save-worthy and shareable content, such as tutorials, shade guides and checklists, with clear calls to action.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PAGE 6  |  HASHTAG ANALYSIS  |  TASK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Values-based hashtags edge out the brand hashtag</a:t>
            </a:r>
            <a:endParaRPr lang="en-US" sz="2600" dirty="0"/>
          </a:p>
        </p:txBody>
      </p:sp>
      <p:pic>
        <p:nvPicPr>
          <p:cNvPr id="4" name="Image 0" descr="Hashtag analy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40880" cy="4000500"/>
          </a:xfrm>
          <a:prstGeom prst="rect">
            <a:avLst/>
          </a:prstGeom>
        </p:spPr>
      </p:pic>
      <p:sp>
        <p:nvSpPr>
          <p:cNvPr id="5" name="Insight panel"/>
          <p:cNvSpPr/>
          <p:nvPr/>
        </p:nvSpPr>
        <p:spPr>
          <a:xfrm>
            <a:off x="7863840" y="1371600"/>
            <a:ext cx="3794760" cy="4000500"/>
          </a:xfrm>
          <a:prstGeom prst="roundRect">
            <a:avLst>
              <a:gd name="adj" fmla="val 1928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9202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#VeganBeauty has the highest engagement (18.66%); #SugarCosmetics the lowest (18.51%)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#CrueltyFree has the biggest total reach (401M)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with 2 to 3 hashtags average 2,972 to 2,981 likes vs 2,910 with one</a:t>
            </a:r>
            <a:endParaRPr lang="en-US" sz="1400" dirty="0"/>
          </a:p>
        </p:txBody>
      </p:sp>
      <p:sp>
        <p:nvSpPr>
          <p:cNvPr id="8" name="Implication strip"/>
          <p:cNvSpPr/>
          <p:nvPr/>
        </p:nvSpPr>
        <p:spPr>
          <a:xfrm>
            <a:off x="548640" y="55778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</a:t>
            </a:r>
            <a:r>
              <a:rPr lang="en-US" sz="15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values-based tags (#VeganBeauty, #CrueltyFree) and use 2 to 3 per post.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PAGE 7  |  CAMPAIGN AND SOURCE ANALYSIS  |  SUPPORTS TASK 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Influencer-led content beats organic on engagement</a:t>
            </a:r>
            <a:endParaRPr lang="en-US" sz="2600" dirty="0"/>
          </a:p>
        </p:txBody>
      </p:sp>
      <p:pic>
        <p:nvPicPr>
          <p:cNvPr id="4" name="Image 0" descr="Campaign, source and emotion analy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40880" cy="4000500"/>
          </a:xfrm>
          <a:prstGeom prst="rect">
            <a:avLst/>
          </a:prstGeom>
        </p:spPr>
      </p:pic>
      <p:sp>
        <p:nvSpPr>
          <p:cNvPr id="5" name="Insight panel"/>
          <p:cNvSpPr/>
          <p:nvPr/>
        </p:nvSpPr>
        <p:spPr>
          <a:xfrm>
            <a:off x="7863840" y="1371600"/>
            <a:ext cx="3794760" cy="4000500"/>
          </a:xfrm>
          <a:prstGeom prst="roundRect">
            <a:avLst>
              <a:gd name="adj" fmla="val 1928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9202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18.65% and Collab 18.63% vs Organic 18.37%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has the highest reach per post (19,970) but the lowest engagement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Collab is the top campaign (18.63%); Festive Offer the weakest (18.45%)</a:t>
            </a:r>
            <a:endParaRPr lang="en-US" sz="1400" dirty="0"/>
          </a:p>
        </p:txBody>
      </p:sp>
      <p:sp>
        <p:nvSpPr>
          <p:cNvPr id="8" name="Implication strip"/>
          <p:cNvSpPr/>
          <p:nvPr/>
        </p:nvSpPr>
        <p:spPr>
          <a:xfrm>
            <a:off x="548640" y="55778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</a:t>
            </a:r>
            <a:r>
              <a:rPr lang="en-US" sz="15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part of the organic effort into influencer collaborations, and rework the Festive Offer creative.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PAGE 8  |  FINAL DASHBOARD  |  TASK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interactive dashboard answers every performance question</a:t>
            </a:r>
            <a:endParaRPr lang="en-US" sz="2600" dirty="0"/>
          </a:p>
        </p:txBody>
      </p:sp>
      <p:pic>
        <p:nvPicPr>
          <p:cNvPr id="4" name="Image 0" descr="Final Power BI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040880" cy="4000500"/>
          </a:xfrm>
          <a:prstGeom prst="rect">
            <a:avLst/>
          </a:prstGeom>
        </p:spPr>
      </p:pic>
      <p:sp>
        <p:nvSpPr>
          <p:cNvPr id="5" name="Insight panel"/>
          <p:cNvSpPr/>
          <p:nvPr/>
        </p:nvSpPr>
        <p:spPr>
          <a:xfrm>
            <a:off x="7863840" y="1371600"/>
            <a:ext cx="3794760" cy="4000500"/>
          </a:xfrm>
          <a:prstGeom prst="roundRect">
            <a:avLst>
              <a:gd name="adj" fmla="val 1928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92024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Post Type, Month Year and Hashtag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any bar cross-filters every card and chart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KPI cards and six charts on a single page</a:t>
            </a:r>
            <a:endParaRPr lang="en-US" sz="1400" dirty="0"/>
          </a:p>
        </p:txBody>
      </p:sp>
      <p:sp>
        <p:nvSpPr>
          <p:cNvPr id="8" name="Implication strip"/>
          <p:cNvSpPr/>
          <p:nvPr/>
        </p:nvSpPr>
        <p:spPr>
          <a:xfrm>
            <a:off x="548640" y="55778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</a:t>
            </a:r>
            <a:r>
              <a:rPr lang="en-US" sz="15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can drill into any slice of the data, such as one format, month or hashtag, without requesting a new report.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10  |  STRATEGIC 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109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campaign tests</a:t>
            </a:r>
            <a:endParaRPr lang="en-US" sz="2600" dirty="0"/>
          </a:p>
        </p:txBody>
      </p:sp>
      <p:sp>
        <p:nvSpPr>
          <p:cNvPr id="4" name="Recommendations panel"/>
          <p:cNvSpPr/>
          <p:nvPr/>
        </p:nvSpPr>
        <p:spPr>
          <a:xfrm>
            <a:off x="548640" y="1371600"/>
            <a:ext cx="6309360" cy="4069080"/>
          </a:xfrm>
          <a:prstGeom prst="roundRect">
            <a:avLst>
              <a:gd name="adj" fmla="val 1798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post: </a:t>
            </a:r>
            <a:r>
              <a:rPr lang="en-US" sz="16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and Saturday for key launches (18.61%, 18.59%), but keep posting daily. The gap is only 0.14 points.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post: </a:t>
            </a:r>
            <a:r>
              <a:rPr lang="en-US" sz="16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influencer collaborations, Story and Reel formats, and curious, question-led hooks (Curious 18.66%).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engagement and followers: </a:t>
            </a:r>
            <a:r>
              <a:rPr lang="en-US" sz="16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save and share calls to action, ask questions, use 2 to 3 hashtags (2,972 to 2,981 average likes vs 2,910 for one), and lift the 30% profile-visit-to-follow rate.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4C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Gaps: </a:t>
            </a:r>
            <a:r>
              <a:rPr lang="en-US" sz="16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caption or creative data, organic underperforms, and shares and saves are low.</a:t>
            </a:r>
            <a:endParaRPr lang="en-US" sz="1600" dirty="0"/>
          </a:p>
        </p:txBody>
      </p:sp>
      <p:sp>
        <p:nvSpPr>
          <p:cNvPr id="7" name="Campaign panel"/>
          <p:cNvSpPr/>
          <p:nvPr/>
        </p:nvSpPr>
        <p:spPr>
          <a:xfrm>
            <a:off x="7086600" y="1371600"/>
            <a:ext cx="4572000" cy="4069080"/>
          </a:xfrm>
          <a:prstGeom prst="roundRect">
            <a:avLst>
              <a:gd name="adj" fmla="val 1798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14813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IDEAS TO TEST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874520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tutorial series, measured on saves and shares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vs Wednesday launch of similar products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Values-based hashtags vs the brand tag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Festive Offer refresh with a giveaway angle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 of posts with a "save for later" call to action</a:t>
            </a:r>
            <a:endParaRPr lang="en-US" sz="1600" dirty="0"/>
          </a:p>
        </p:txBody>
      </p:sp>
      <p:sp>
        <p:nvSpPr>
          <p:cNvPr id="10" name="Caveat strip"/>
          <p:cNvSpPr/>
          <p:nvPr/>
        </p:nvSpPr>
        <p:spPr>
          <a:xfrm>
            <a:off x="548640" y="557784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72243E"/>
          </a:solidFill>
          <a:ln w="12700">
            <a:solidFill>
              <a:srgbClr val="ED93B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62356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9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</a:t>
            </a:r>
            <a:r>
              <a:rPr lang="en-US" sz="1400" dirty="0">
                <a:solidFill>
                  <a:srgbClr val="FB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gaps between categories are under 1 point, so treat these as tests, not big strategy shifts. Apr 2024 and Apr 2025 are partial months, and hashtag counts overlap because a post can carry up to 3 tags.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956</Words>
  <Application>Microsoft Office PowerPoint</Application>
  <PresentationFormat>Widescreen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Sugar Cosmetics Instagram Performance Analysis</dc:title>
  <dc:subject>PptxGenJS Presentation</dc:subject>
  <dc:creator>PptxGenJS</dc:creator>
  <cp:lastModifiedBy>Saish Bore</cp:lastModifiedBy>
  <cp:revision>3</cp:revision>
  <dcterms:created xsi:type="dcterms:W3CDTF">2026-10-17T12:11:08Z</dcterms:created>
  <dcterms:modified xsi:type="dcterms:W3CDTF">2026-10-18T12:56:35Z</dcterms:modified>
</cp:coreProperties>
</file>